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2" r:id="rId3"/>
    <p:sldId id="259" r:id="rId4"/>
    <p:sldId id="261" r:id="rId5"/>
    <p:sldId id="263" r:id="rId6"/>
    <p:sldId id="256" r:id="rId7"/>
    <p:sldId id="257" r:id="rId8"/>
    <p:sldId id="260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4BFC52-C2B6-4E80-97F1-4FFC6E696233}" v="612" dt="2026-03-05T01:56:12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56" d="100"/>
          <a:sy n="56" d="100"/>
        </p:scale>
        <p:origin x="1026" y="5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CCEB37-F6EC-B1D6-8177-644D2F84D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74C3A0-F499-55C1-2A33-C8A9C85D4F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D79B30-7622-F631-8D6A-BC2B3AAF6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5FD85C-BA6F-A4A1-E844-A8D1C18D6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042AC9-7E1E-5ACF-E5BC-D7871615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5712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EE8AB-E5B3-376B-4C12-569505402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267BF1-EBD4-A611-667A-67BF8A226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20ADAB-098C-E887-FD38-1D99D08AB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2D3A52-B91E-4A19-3DEA-3477597D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43A352-7E51-F0BA-34B6-9BADDDFE3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0198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0BEE10-F24C-E926-5D0C-9445D226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33563F-A9A1-CDB9-5AA5-991D1753B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116844-64C6-BAFB-C3ED-2154923E5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5C6A96-7C58-5144-AFA0-A9991088D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D61E3B-445B-69F7-E8C6-BA5B2D977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6814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50766-96FC-58DB-1DBB-EF19924C6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5AABE-3AC1-6147-0093-0A006A62FA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66DD51-F36A-3467-7762-CCB37AB3DD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D83DC7-1793-3C66-2C8C-73A071070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CA6070-B007-9D74-DBAC-8B3C90E0F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EBDAE2-2011-EFF4-2A2D-6BE9A726D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677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790B1A-0F81-6661-DA6D-3AFFAFC7C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29C4B8-78C9-80BF-E497-6D57AD469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8E58E98-9E03-A5DB-CF62-22C56DDD0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72EA428-1074-237D-84A7-B520A9E414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38A260-9B03-527E-1991-3EB8BF68B6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D5F1CF4-70E8-669F-E141-260F9D141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BD2E2EE-A684-BADE-40F3-9B67FA4ED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E9F9CCC-9695-055C-EB04-C1160405B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115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10979-F7C8-F255-36B5-AA4439A50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7CD1132-A52F-45B8-99D5-0FFEC0A80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598D5D-F16C-9A11-07D1-A52251DBC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0EA760E-6A15-C424-FA7F-A3E35DB20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8163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D8D0EA5-C44A-803D-B8A7-C01D6753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35B942F-65E8-161D-9725-35E2308CF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60670B-AD5D-7D61-6874-A077F921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0878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677F55-9E38-3F7C-487C-478F5EAFA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262F3F-07A9-22B6-38AF-C523CEF7E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31200E-434D-9E86-7A39-7519D0E403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8031DE2-3580-3773-BE21-668659114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BC4704-E0C4-9B16-44FC-9DE190DC4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18B5EB-D271-58D4-9CB7-0C6226D38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6048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5A2958-5D8D-16A0-9A62-C040307A2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6E2AE89-DA71-3DE6-BD01-ACC0DDEFC5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E448EE-EFBD-3846-D66E-56E3A7028B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7A0614-EEED-2CB4-76ED-BA22A6BA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52F6E6-847F-1857-8B13-91219770E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C0C2BC-6BB7-25F6-747F-937B8DBA7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669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29AFE5-7376-AE6F-C759-723E7659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43227FD-E4CA-32DF-B6A5-6A59223399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A7DEBF-C468-336F-72DD-A1DF93107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581E91-9150-021D-3A64-932041A8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3EE8B1-6A18-49F3-E35B-0904ABB60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124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1632421-093D-6E3A-48DE-6110FDAF7B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C374CCE-2FA9-4FF0-CE75-983A26DE73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8B2602-BCA5-433B-166B-C1FDDD63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665329-1BF0-C1E5-0862-42F9FA1AA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F1FB6-59CD-99AB-7D3A-7DD7A2DAA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840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F7FDE9E-8539-CD49-3797-83B4AA748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B5E8AE-2635-7C71-4FF0-E7DBDD0E3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8D156A-5EB5-C69D-E896-71CA18E61F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D6A05-A525-4566-9F5C-631239A2B5F0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0F7491-2749-B5C9-9457-EC911FABA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0B5B1-7F08-12B9-28AC-4E8B3C45B2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824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538E17-201B-BF81-5D6F-31F09A5D31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0344" y="1481349"/>
            <a:ext cx="10311083" cy="803586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CPU|GPU</a:t>
            </a:r>
            <a:r>
              <a:rPr lang="zh-CN" altLang="en-US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协同计算</a:t>
            </a:r>
            <a:r>
              <a:rPr lang="en-US" altLang="zh-CN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: </a:t>
            </a:r>
            <a:r>
              <a:rPr lang="zh-CN" altLang="en-US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复现与加速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AF88DEA-3246-B506-9084-AEF6415F0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2785" y="3123474"/>
            <a:ext cx="9924821" cy="1655762"/>
          </a:xfrm>
        </p:spPr>
        <p:txBody>
          <a:bodyPr>
            <a:normAutofit/>
          </a:bodyPr>
          <a:lstStyle/>
          <a:p>
            <a:pPr algn="l"/>
            <a:r>
              <a:rPr lang="zh-CN" altLang="en-US" dirty="0"/>
              <a:t>实验配置：</a:t>
            </a:r>
            <a:r>
              <a:rPr lang="en-US" altLang="zh-CN" dirty="0"/>
              <a:t>Tesla T4</a:t>
            </a:r>
            <a:r>
              <a:rPr lang="zh-CN" altLang="en-US" dirty="0"/>
              <a:t>（</a:t>
            </a:r>
            <a:r>
              <a:rPr lang="en-US" altLang="zh-CN" dirty="0"/>
              <a:t>16GB</a:t>
            </a:r>
            <a:r>
              <a:rPr lang="zh-CN" altLang="en-US" dirty="0"/>
              <a:t>） </a:t>
            </a:r>
            <a:r>
              <a:rPr lang="en-US" altLang="zh-CN" dirty="0"/>
              <a:t>n1 (32 </a:t>
            </a:r>
            <a:r>
              <a:rPr lang="zh-CN" altLang="en-US" dirty="0"/>
              <a:t>个 </a:t>
            </a:r>
            <a:r>
              <a:rPr lang="en-US" altLang="zh-CN" dirty="0"/>
              <a:t>vCPU, 104 GB </a:t>
            </a:r>
            <a:r>
              <a:rPr lang="zh-CN" altLang="en-US" dirty="0"/>
              <a:t>内存</a:t>
            </a:r>
            <a:r>
              <a:rPr lang="en-US" altLang="zh-CN" dirty="0"/>
              <a:t>)</a:t>
            </a:r>
          </a:p>
          <a:p>
            <a:pPr algn="l"/>
            <a:r>
              <a:rPr lang="zh-CN" altLang="en-US" dirty="0"/>
              <a:t>模型选择：</a:t>
            </a:r>
            <a:r>
              <a:rPr lang="en-US" altLang="zh-CN" dirty="0"/>
              <a:t>Mixtral-8x7B model（87GB）</a:t>
            </a:r>
          </a:p>
          <a:p>
            <a:pPr algn="l"/>
            <a:r>
              <a:rPr lang="zh-CN" altLang="en-US" dirty="0"/>
              <a:t>复现论文：</a:t>
            </a:r>
            <a:r>
              <a:rPr lang="en-US" altLang="zh-CN" dirty="0"/>
              <a:t>FIDDLER: CPU-GPU ORCHESTRATION</a:t>
            </a:r>
            <a:r>
              <a:rPr lang="zh-CN" altLang="en-US" dirty="0"/>
              <a:t>（</a:t>
            </a:r>
            <a:r>
              <a:rPr lang="en-US" altLang="zh-CN" dirty="0"/>
              <a:t>ICLR 2025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879721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3" descr="图示&#10;&#10;AI 生成的内容可能不正确。">
            <a:extLst>
              <a:ext uri="{FF2B5EF4-FFF2-40B4-BE49-F238E27FC236}">
                <a16:creationId xmlns:a16="http://schemas.microsoft.com/office/drawing/2014/main" id="{24B11E3D-956D-CEC6-B981-29413B4E9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251" y="980295"/>
            <a:ext cx="11445498" cy="383349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22310C2-A983-54FC-CD8A-EBE27718555D}"/>
              </a:ext>
            </a:extLst>
          </p:cNvPr>
          <p:cNvSpPr txBox="1"/>
          <p:nvPr/>
        </p:nvSpPr>
        <p:spPr>
          <a:xfrm>
            <a:off x="840449" y="4815549"/>
            <a:ext cx="662607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altLang="en-US">
                <a:ea typeface="等线"/>
              </a:rPr>
              <a:t>*图片来源：Fiddler论文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237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E716DE-E531-0FF8-BF73-876599504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>
                <a:ea typeface="+mj-lt"/>
                <a:cs typeface="+mj-lt"/>
              </a:rPr>
              <a:t>Fiddler:</a:t>
            </a:r>
            <a:endParaRPr lang="zh-CN" altLang="en-US">
              <a:latin typeface="Calibri"/>
              <a:ea typeface="等线 Light"/>
              <a:cs typeface="Calibri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7954B7-7CA7-5670-41EC-8E3A7A9D2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509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CN" altLang="en-US" dirty="0">
                <a:ea typeface="等线"/>
              </a:rPr>
              <a:t> </a:t>
            </a:r>
            <a:endParaRPr lang="zh-CN" altLang="en-US" dirty="0">
              <a:ea typeface="等线" panose="02010600030101010101" pitchFamily="2" charset="-122"/>
            </a:endParaRPr>
          </a:p>
          <a:p>
            <a:pPr marL="0" indent="0">
              <a:buNone/>
            </a:pPr>
            <a:r>
              <a:rPr lang="zh-CN" altLang="en-US" sz="3200">
                <a:ea typeface="等线"/>
              </a:rPr>
              <a:t>常驻哪些专家？</a:t>
            </a:r>
          </a:p>
          <a:p>
            <a:pPr marL="0" indent="0">
              <a:buNone/>
            </a:pPr>
            <a:r>
              <a:rPr lang="zh-CN" altLang="en-US" sz="3200">
                <a:ea typeface="等线"/>
              </a:rPr>
              <a:t>  GPU静态储存热点专家 </a:t>
            </a:r>
          </a:p>
          <a:p>
            <a:pPr marL="0" indent="0">
              <a:buNone/>
            </a:pPr>
            <a:r>
              <a:rPr lang="zh-CN" altLang="en-US" sz="3200">
                <a:ea typeface="等线"/>
              </a:rPr>
              <a:t>  Vram空余一个专家位置灵活卸载</a:t>
            </a:r>
          </a:p>
          <a:p>
            <a:pPr marL="0" indent="0">
              <a:buNone/>
            </a:pPr>
            <a:r>
              <a:rPr lang="zh-CN" altLang="en-US" sz="3200">
                <a:ea typeface="等线"/>
              </a:rPr>
              <a:t>决策在哪跑？</a:t>
            </a:r>
          </a:p>
          <a:p>
            <a:pPr marL="0" indent="0">
              <a:buNone/>
            </a:pPr>
            <a:r>
              <a:rPr lang="zh-CN" altLang="en-US" sz="3200" dirty="0">
                <a:ea typeface="等线"/>
              </a:rPr>
              <a:t>           </a:t>
            </a: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</p:txBody>
      </p:sp>
      <p:pic>
        <p:nvPicPr>
          <p:cNvPr id="4" name="图片 3" descr="文本, 信件&#10;&#10;AI 生成的内容可能不正确。">
            <a:extLst>
              <a:ext uri="{FF2B5EF4-FFF2-40B4-BE49-F238E27FC236}">
                <a16:creationId xmlns:a16="http://schemas.microsoft.com/office/drawing/2014/main" id="{8257AF6A-F362-0971-0754-7BAD7A2A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407" y="3956940"/>
            <a:ext cx="7607085" cy="252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42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D7F25D8-53C6-6F67-1B11-3FE146CFC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873" y="1124538"/>
            <a:ext cx="4789320" cy="34782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zh-CN" altLang="en-US" sz="2000" dirty="0">
              <a:ea typeface="等线" panose="02110004020202020204"/>
            </a:endParaRPr>
          </a:p>
          <a:p>
            <a:pPr marL="0" indent="0">
              <a:buNone/>
            </a:pPr>
            <a:r>
              <a:rPr lang="zh-CN" altLang="en-US" sz="2400">
                <a:ea typeface="等线" panose="02110004020202020204"/>
              </a:rPr>
              <a:t>每一个代价如何近似？</a:t>
            </a:r>
            <a:endParaRPr lang="zh-CN" altLang="en-US" sz="2400" dirty="0">
              <a:ea typeface="等线" panose="02110004020202020204"/>
            </a:endParaRPr>
          </a:p>
          <a:p>
            <a:pPr marL="0" indent="0">
              <a:buNone/>
            </a:pPr>
            <a:br>
              <a:rPr lang="zh-CN" altLang="en-US" sz="2000" dirty="0">
                <a:ea typeface="等线" panose="02110004020202020204"/>
              </a:rPr>
            </a:br>
            <a:r>
              <a:rPr lang="zh-CN" altLang="en-US" sz="2400">
                <a:latin typeface="等线"/>
                <a:ea typeface="等线" panose="02110004020202020204"/>
                <a:cs typeface="Segoe UI"/>
              </a:rPr>
              <a:t>cpu侧 = CONST_0  *  token_num</a:t>
            </a:r>
            <a:endParaRPr lang="zh-CN" sz="2400">
              <a:ea typeface="等线"/>
            </a:endParaRPr>
          </a:p>
          <a:p>
            <a:pPr marL="0" indent="0">
              <a:buNone/>
            </a:pPr>
            <a:r>
              <a:rPr lang="en-US" altLang="zh-CN" sz="2400" err="1">
                <a:latin typeface="等线"/>
                <a:ea typeface="等线" panose="02110004020202020204"/>
                <a:cs typeface="Segoe UI"/>
              </a:rPr>
              <a:t>gpu侧</a:t>
            </a:r>
            <a:r>
              <a:rPr lang="zh-CN" sz="2400">
                <a:latin typeface="等线"/>
                <a:ea typeface="等线" panose="02110004020202020204"/>
                <a:cs typeface="Segoe UI"/>
              </a:rPr>
              <a:t> = CONST_1 </a:t>
            </a:r>
            <a:endParaRPr lang="zh-CN" sz="2400">
              <a:ea typeface="等线"/>
            </a:endParaRPr>
          </a:p>
        </p:txBody>
      </p:sp>
      <p:pic>
        <p:nvPicPr>
          <p:cNvPr id="4" name="内容占位符 3" descr="图示&#10;&#10;AI 生成的内容可能不正确。">
            <a:extLst>
              <a:ext uri="{FF2B5EF4-FFF2-40B4-BE49-F238E27FC236}">
                <a16:creationId xmlns:a16="http://schemas.microsoft.com/office/drawing/2014/main" id="{2A894ED8-49F0-AECF-EC2B-33A1108C9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72" y="814023"/>
            <a:ext cx="6389346" cy="52392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图片 2" descr="图片包含 图示&#10;&#10;AI 生成的内容可能不正确。">
            <a:extLst>
              <a:ext uri="{FF2B5EF4-FFF2-40B4-BE49-F238E27FC236}">
                <a16:creationId xmlns:a16="http://schemas.microsoft.com/office/drawing/2014/main" id="{1A062514-DC46-A19D-61AC-BE6502EC07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4" b="10683"/>
          <a:stretch>
            <a:fillRect/>
          </a:stretch>
        </p:blipFill>
        <p:spPr>
          <a:xfrm>
            <a:off x="240788" y="409898"/>
            <a:ext cx="10306931" cy="66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885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EF8B80-25AD-D1D3-C9FB-6BCB180BE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3466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>
                <a:ea typeface="等线"/>
              </a:rPr>
              <a:t>阅读源码， profiler 打点</a:t>
            </a:r>
          </a:p>
          <a:p>
            <a:pPr marL="0" indent="0">
              <a:buNone/>
            </a:pPr>
            <a:r>
              <a:rPr lang="zh-CN" altLang="en-US">
                <a:ea typeface="等线"/>
              </a:rPr>
              <a:t>图示为decode过程完整的一层， 两个专家都分配到cpu上</a:t>
            </a:r>
            <a:endParaRPr lang="zh-CN" altLang="en-US" dirty="0">
              <a:ea typeface="等线"/>
            </a:endParaRPr>
          </a:p>
        </p:txBody>
      </p:sp>
      <p:pic>
        <p:nvPicPr>
          <p:cNvPr id="8" name="图片 7" descr="图形用户界面, 图表&#10;&#10;AI 生成的内容可能不正确。">
            <a:extLst>
              <a:ext uri="{FF2B5EF4-FFF2-40B4-BE49-F238E27FC236}">
                <a16:creationId xmlns:a16="http://schemas.microsoft.com/office/drawing/2014/main" id="{BF774337-FAF5-936E-D926-D9B4143B5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3840"/>
            <a:ext cx="12192000" cy="198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799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片包含 日程表&#10;&#10;AI 生成的内容可能不正确。">
            <a:extLst>
              <a:ext uri="{FF2B5EF4-FFF2-40B4-BE49-F238E27FC236}">
                <a16:creationId xmlns:a16="http://schemas.microsoft.com/office/drawing/2014/main" id="{CD805AF1-A589-0CDF-68BF-7C0208DD1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13" y="1061016"/>
            <a:ext cx="11843289" cy="2075425"/>
          </a:xfrm>
          <a:prstGeom prst="rect">
            <a:avLst/>
          </a:prstGeom>
        </p:spPr>
      </p:pic>
      <p:pic>
        <p:nvPicPr>
          <p:cNvPr id="7" name="图片 6" descr="图片包含 图形用户界面&#10;&#10;AI 生成的内容可能不正确。">
            <a:extLst>
              <a:ext uri="{FF2B5EF4-FFF2-40B4-BE49-F238E27FC236}">
                <a16:creationId xmlns:a16="http://schemas.microsoft.com/office/drawing/2014/main" id="{4D0BFCCC-D44C-1C8F-F506-F23473B65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05" y="3690373"/>
            <a:ext cx="9541789" cy="226695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43E11B30-7231-F042-B57E-6FD542B1593A}"/>
              </a:ext>
            </a:extLst>
          </p:cNvPr>
          <p:cNvSpPr txBox="1"/>
          <p:nvPr/>
        </p:nvSpPr>
        <p:spPr>
          <a:xfrm>
            <a:off x="290901" y="96967"/>
            <a:ext cx="32645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altLang="en-US">
                <a:ea typeface="等线"/>
              </a:rPr>
              <a:t>Origin vs improved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528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 descr="图表, 条形图">
            <a:extLst>
              <a:ext uri="{FF2B5EF4-FFF2-40B4-BE49-F238E27FC236}">
                <a16:creationId xmlns:a16="http://schemas.microsoft.com/office/drawing/2014/main" id="{A3C6668F-B3A4-5A4D-4217-C48E532E1E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41963"/>
            <a:ext cx="12120379" cy="516480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EFB0B3-3ADE-E2E2-B543-24A683F50B78}"/>
              </a:ext>
            </a:extLst>
          </p:cNvPr>
          <p:cNvSpPr txBox="1"/>
          <p:nvPr/>
        </p:nvSpPr>
        <p:spPr>
          <a:xfrm>
            <a:off x="411161" y="173119"/>
            <a:ext cx="367880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altLang="en-US">
                <a:ea typeface="等线"/>
              </a:rPr>
              <a:t>两个改动过后， 平均加速1.172x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36F3320-CC2A-4757-4C23-D54220BE9415}"/>
              </a:ext>
            </a:extLst>
          </p:cNvPr>
          <p:cNvSpPr txBox="1"/>
          <p:nvPr/>
        </p:nvSpPr>
        <p:spPr>
          <a:xfrm>
            <a:off x="406977" y="6009409"/>
            <a:ext cx="931718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sz="2400" baseline="0">
                <a:ea typeface="SimSun"/>
              </a:rPr>
              <a:t>实验配置：</a:t>
            </a:r>
            <a:r>
              <a:rPr lang="en-US" sz="2400" baseline="0">
                <a:latin typeface="SimSun"/>
              </a:rPr>
              <a:t>Tesla T4</a:t>
            </a:r>
            <a:r>
              <a:rPr lang="zh-CN" sz="2400" baseline="0">
                <a:ea typeface="SimSun"/>
              </a:rPr>
              <a:t>（</a:t>
            </a:r>
            <a:r>
              <a:rPr lang="en-US" sz="2400" baseline="0">
                <a:latin typeface="SimSun"/>
              </a:rPr>
              <a:t>16GB</a:t>
            </a:r>
            <a:r>
              <a:rPr lang="zh-CN" sz="2400" baseline="0">
                <a:ea typeface="SimSun"/>
              </a:rPr>
              <a:t>） </a:t>
            </a:r>
            <a:r>
              <a:rPr lang="en-US" sz="2400" baseline="0">
                <a:latin typeface="SimSun"/>
              </a:rPr>
              <a:t>n1 (32 </a:t>
            </a:r>
            <a:r>
              <a:rPr lang="zh-CN" sz="2400" baseline="0">
                <a:ea typeface="SimSun"/>
              </a:rPr>
              <a:t>个 </a:t>
            </a:r>
            <a:r>
              <a:rPr lang="en-US" sz="2400" baseline="0">
                <a:latin typeface="SimSun"/>
              </a:rPr>
              <a:t>vCPU, 104 GB </a:t>
            </a:r>
            <a:r>
              <a:rPr lang="zh-CN" sz="2400" baseline="0">
                <a:ea typeface="SimSun"/>
              </a:rPr>
              <a:t>内存</a:t>
            </a:r>
            <a:r>
              <a:rPr lang="en-US" sz="2400" baseline="0">
                <a:latin typeface="SimSun"/>
              </a:rPr>
              <a:t>)</a:t>
            </a:r>
            <a:endParaRPr lang="zh-CN" altLang="en-US"/>
          </a:p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436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6A2597-E866-7094-7F93-66C9B63F7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6931"/>
            <a:ext cx="10515600" cy="5630032"/>
          </a:xfrm>
        </p:spPr>
        <p:txBody>
          <a:bodyPr/>
          <a:lstStyle/>
          <a:p>
            <a:pPr marL="0" indent="0">
              <a:buNone/>
            </a:pPr>
            <a:r>
              <a:rPr lang="zh-CN" altLang="en-US">
                <a:latin typeface="Calibri" panose="020F0502020204030204" pitchFamily="34" charset="0"/>
                <a:cs typeface="Calibri" panose="020F0502020204030204" pitchFamily="34" charset="0"/>
              </a:rPr>
              <a:t>接下来的打算和疑问：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246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1059</TotalTime>
  <Words>57</Words>
  <Application>Microsoft Office PowerPoint</Application>
  <PresentationFormat>宽屏</PresentationFormat>
  <Paragraphs>6</Paragraphs>
  <Slides>8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9" baseType="lpstr">
      <vt:lpstr>Office 主题​​</vt:lpstr>
      <vt:lpstr>CPU|GPU协同计算: 复现与加速</vt:lpstr>
      <vt:lpstr>PowerPoint 演示文稿</vt:lpstr>
      <vt:lpstr>Fiddler: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宇杰 杨</dc:creator>
  <cp:lastModifiedBy>宇杰 杨</cp:lastModifiedBy>
  <cp:revision>270</cp:revision>
  <dcterms:created xsi:type="dcterms:W3CDTF">2026-03-03T22:13:49Z</dcterms:created>
  <dcterms:modified xsi:type="dcterms:W3CDTF">2026-03-05T02:00:29Z</dcterms:modified>
</cp:coreProperties>
</file>