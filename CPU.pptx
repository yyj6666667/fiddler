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2" r:id="rId3"/>
    <p:sldId id="264" r:id="rId4"/>
    <p:sldId id="259" r:id="rId5"/>
    <p:sldId id="261" r:id="rId6"/>
    <p:sldId id="267" r:id="rId7"/>
    <p:sldId id="263" r:id="rId8"/>
    <p:sldId id="265" r:id="rId9"/>
    <p:sldId id="256" r:id="rId10"/>
    <p:sldId id="266" r:id="rId11"/>
    <p:sldId id="257" r:id="rId12"/>
    <p:sldId id="260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4BFC52-C2B6-4E80-97F1-4FFC6E696233}" v="612" dt="2026-03-05T01:56:12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>
        <p:scale>
          <a:sx n="81" d="100"/>
          <a:sy n="81" d="100"/>
        </p:scale>
        <p:origin x="66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CCEB37-F6EC-B1D6-8177-644D2F84D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A74C3A0-F499-55C1-2A33-C8A9C85D4F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D79B30-7622-F631-8D6A-BC2B3AAF6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5FD85C-BA6F-A4A1-E844-A8D1C18D6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042AC9-7E1E-5ACF-E5BC-D7871615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5712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5EE8AB-E5B3-376B-4C12-569505402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267BF1-EBD4-A611-667A-67BF8A226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20ADAB-098C-E887-FD38-1D99D08AB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2D3A52-B91E-4A19-3DEA-3477597D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43A352-7E51-F0BA-34B6-9BADDDFE3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0198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0BEE10-F24C-E926-5D0C-9445D226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33563F-A9A1-CDB9-5AA5-991D1753B1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116844-64C6-BAFB-C3ED-2154923E5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5C6A96-7C58-5144-AFA0-A9991088D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D61E3B-445B-69F7-E8C6-BA5B2D97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6814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50766-96FC-58DB-1DBB-EF19924C6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A55AABE-3AC1-6147-0093-0A006A62FA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466DD51-F36A-3467-7762-CCB37AB3DD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D83DC7-1793-3C66-2C8C-73A071070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CA6070-B007-9D74-DBAC-8B3C90E0F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EBDAE2-2011-EFF4-2A2D-6BE9A726D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677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790B1A-0F81-6661-DA6D-3AFFAFC7C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29C4B8-78C9-80BF-E497-6D57AD469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8E58E98-9E03-A5DB-CF62-22C56DDD0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72EA428-1074-237D-84A7-B520A9E414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38A260-9B03-527E-1991-3EB8BF68B6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D5F1CF4-70E8-669F-E141-260F9D141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BD2E2EE-A684-BADE-40F3-9B67FA4ED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E9F9CCC-9695-055C-EB04-C1160405B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115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10979-F7C8-F255-36B5-AA4439A50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7CD1132-A52F-45B8-99D5-0FFEC0A80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598D5D-F16C-9A11-07D1-A52251DBC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0EA760E-6A15-C424-FA7F-A3E35DB20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8163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D8D0EA5-C44A-803D-B8A7-C01D6753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35B942F-65E8-161D-9725-35E2308CF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60670B-AD5D-7D61-6874-A077F921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0878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677F55-9E38-3F7C-487C-478F5EAFA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262F3F-07A9-22B6-38AF-C523CEF7E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A31200E-434D-9E86-7A39-7519D0E403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8031DE2-3580-3773-BE21-668659114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BC4704-E0C4-9B16-44FC-9DE190DC4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18B5EB-D271-58D4-9CB7-0C6226D38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6048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5A2958-5D8D-16A0-9A62-C040307A2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6E2AE89-DA71-3DE6-BD01-ACC0DDEFC5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E448EE-EFBD-3846-D66E-56E3A7028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7A0614-EEED-2CB4-76ED-BA22A6BA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52F6E6-847F-1857-8B13-91219770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C0C2BC-6BB7-25F6-747F-937B8DBA7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669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29AFE5-7376-AE6F-C759-723E7659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43227FD-E4CA-32DF-B6A5-6A59223399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A7DEBF-C468-336F-72DD-A1DF93107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581E91-9150-021D-3A64-932041A8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3EE8B1-6A18-49F3-E35B-0904ABB6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124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1632421-093D-6E3A-48DE-6110FDAF7B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C374CCE-2FA9-4FF0-CE75-983A26DE73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8B2602-BCA5-433B-166B-C1FDDD63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665329-1BF0-C1E5-0862-42F9FA1AA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5F1FB6-59CD-99AB-7D3A-7DD7A2DAA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840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7FDE9E-8539-CD49-3797-83B4AA748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B5E8AE-2635-7C71-4FF0-E7DBDD0E3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8D156A-5EB5-C69D-E896-71CA18E61F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1D6A05-A525-4566-9F5C-631239A2B5F0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0F7491-2749-B5C9-9457-EC911FABAE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C0B5B1-7F08-12B9-28AC-4E8B3C45B2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0860F4-1457-4E0E-85AC-EBEFC14F6C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7824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538E17-201B-BF81-5D6F-31F09A5D31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0344" y="1481349"/>
            <a:ext cx="10311083" cy="803586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CPU|GPU</a:t>
            </a:r>
            <a:r>
              <a:rPr lang="zh-CN" altLang="en-US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协同计算</a:t>
            </a:r>
            <a:r>
              <a:rPr lang="en-US" altLang="zh-CN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: </a:t>
            </a:r>
            <a:r>
              <a:rPr lang="zh-CN" altLang="en-US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复现与加速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AF88DEA-3246-B506-9084-AEF6415F0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52785" y="3123474"/>
            <a:ext cx="9924821" cy="1655762"/>
          </a:xfrm>
        </p:spPr>
        <p:txBody>
          <a:bodyPr>
            <a:normAutofit/>
          </a:bodyPr>
          <a:lstStyle/>
          <a:p>
            <a:pPr algn="l"/>
            <a:r>
              <a:rPr lang="zh-CN" altLang="en-US" dirty="0"/>
              <a:t>实验配置：</a:t>
            </a:r>
            <a:r>
              <a:rPr lang="en-US" altLang="zh-CN" dirty="0"/>
              <a:t>Tesla T4</a:t>
            </a:r>
            <a:r>
              <a:rPr lang="zh-CN" altLang="en-US" dirty="0"/>
              <a:t>（</a:t>
            </a:r>
            <a:r>
              <a:rPr lang="en-US" altLang="zh-CN" dirty="0"/>
              <a:t>16GB</a:t>
            </a:r>
            <a:r>
              <a:rPr lang="zh-CN" altLang="en-US" dirty="0"/>
              <a:t>） </a:t>
            </a:r>
            <a:r>
              <a:rPr lang="en-US" altLang="zh-CN" dirty="0"/>
              <a:t>n1 (32 </a:t>
            </a:r>
            <a:r>
              <a:rPr lang="zh-CN" altLang="en-US" dirty="0"/>
              <a:t>个 </a:t>
            </a:r>
            <a:r>
              <a:rPr lang="en-US" altLang="zh-CN" dirty="0"/>
              <a:t>vCPU, 104 GB </a:t>
            </a:r>
            <a:r>
              <a:rPr lang="zh-CN" altLang="en-US" dirty="0"/>
              <a:t>内存</a:t>
            </a:r>
            <a:r>
              <a:rPr lang="en-US" altLang="zh-CN" dirty="0"/>
              <a:t>)</a:t>
            </a:r>
          </a:p>
          <a:p>
            <a:pPr algn="l"/>
            <a:r>
              <a:rPr lang="zh-CN" altLang="en-US" dirty="0"/>
              <a:t>模型选择：</a:t>
            </a:r>
            <a:r>
              <a:rPr lang="en-US" altLang="zh-CN" dirty="0"/>
              <a:t>Mixtral-8x7B model（87GB）</a:t>
            </a:r>
          </a:p>
          <a:p>
            <a:pPr algn="l"/>
            <a:r>
              <a:rPr lang="zh-CN" altLang="en-US" dirty="0"/>
              <a:t>复现论文：</a:t>
            </a:r>
            <a:r>
              <a:rPr lang="en-US" altLang="zh-CN" dirty="0"/>
              <a:t>FIDDLER: CPU-GPU ORCHESTRATION</a:t>
            </a:r>
            <a:r>
              <a:rPr lang="zh-CN" altLang="en-US" dirty="0"/>
              <a:t>（</a:t>
            </a:r>
            <a:r>
              <a:rPr lang="en-US" altLang="zh-CN" dirty="0"/>
              <a:t>ICLR 2025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8797217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3" descr="图示&#10;&#10;AI 生成的内容可能不正确。">
            <a:extLst>
              <a:ext uri="{FF2B5EF4-FFF2-40B4-BE49-F238E27FC236}">
                <a16:creationId xmlns:a16="http://schemas.microsoft.com/office/drawing/2014/main" id="{24B11E3D-956D-CEC6-B981-29413B4E9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251" y="980295"/>
            <a:ext cx="11445498" cy="383349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22310C2-A983-54FC-CD8A-EBE27718555D}"/>
              </a:ext>
            </a:extLst>
          </p:cNvPr>
          <p:cNvSpPr txBox="1"/>
          <p:nvPr/>
        </p:nvSpPr>
        <p:spPr>
          <a:xfrm>
            <a:off x="840449" y="4815549"/>
            <a:ext cx="662607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altLang="en-US" dirty="0">
                <a:ea typeface="等线"/>
              </a:rPr>
              <a:t>*图片来源：Fiddler论文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7237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B3855-BC90-F5A1-7842-95EFBAEAB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72C8832-A23B-0EED-1EFA-739E86C23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08235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CF50DD3-A97F-9D75-829A-F8D4721A2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06" y="4171933"/>
            <a:ext cx="5211097" cy="2320942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8A52CF91-E834-37B3-11DE-5099CC63C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955" y="4171933"/>
            <a:ext cx="5120663" cy="2320942"/>
          </a:xfrm>
          <a:prstGeom prst="rect">
            <a:avLst/>
          </a:prstGeom>
        </p:spPr>
      </p:pic>
      <p:sp>
        <p:nvSpPr>
          <p:cNvPr id="22" name="箭头: 下 21">
            <a:extLst>
              <a:ext uri="{FF2B5EF4-FFF2-40B4-BE49-F238E27FC236}">
                <a16:creationId xmlns:a16="http://schemas.microsoft.com/office/drawing/2014/main" id="{21D24EA1-AF9F-F902-3246-F19889F6C968}"/>
              </a:ext>
            </a:extLst>
          </p:cNvPr>
          <p:cNvSpPr/>
          <p:nvPr/>
        </p:nvSpPr>
        <p:spPr>
          <a:xfrm>
            <a:off x="2867084" y="3735805"/>
            <a:ext cx="566339" cy="31554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290AD365-C4FF-9BD0-6A6F-85843583F056}"/>
              </a:ext>
            </a:extLst>
          </p:cNvPr>
          <p:cNvSpPr/>
          <p:nvPr/>
        </p:nvSpPr>
        <p:spPr>
          <a:xfrm>
            <a:off x="8843116" y="3735805"/>
            <a:ext cx="566339" cy="31554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0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E716DE-E531-0FF8-BF73-876599504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>
                <a:ea typeface="+mj-lt"/>
                <a:cs typeface="+mj-lt"/>
              </a:rPr>
              <a:t>Fiddler:</a:t>
            </a:r>
            <a:endParaRPr lang="zh-CN" altLang="en-US" dirty="0">
              <a:latin typeface="Calibri"/>
              <a:ea typeface="等线 Light"/>
              <a:cs typeface="Calibri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7954B7-7CA7-5670-41EC-8E3A7A9D2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3509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zh-CN" altLang="en-US" dirty="0">
                <a:ea typeface="等线"/>
              </a:rPr>
              <a:t> </a:t>
            </a:r>
            <a:endParaRPr lang="zh-CN" altLang="en-US" dirty="0">
              <a:ea typeface="等线" panose="02010600030101010101" pitchFamily="2" charset="-122"/>
            </a:endParaRPr>
          </a:p>
          <a:p>
            <a:pPr marL="0" indent="0">
              <a:buNone/>
            </a:pPr>
            <a:r>
              <a:rPr lang="zh-CN" altLang="en-US" sz="3200" dirty="0">
                <a:ea typeface="等线"/>
              </a:rPr>
              <a:t>常驻哪些专家？</a:t>
            </a:r>
          </a:p>
          <a:p>
            <a:pPr marL="0" indent="0">
              <a:buNone/>
            </a:pPr>
            <a:r>
              <a:rPr lang="zh-CN" altLang="en-US" sz="3200" dirty="0">
                <a:ea typeface="等线"/>
              </a:rPr>
              <a:t>  GPU静态储存热点专家 </a:t>
            </a:r>
          </a:p>
          <a:p>
            <a:pPr marL="0" indent="0">
              <a:buNone/>
            </a:pPr>
            <a:r>
              <a:rPr lang="zh-CN" altLang="en-US" sz="3200" dirty="0">
                <a:ea typeface="等线"/>
              </a:rPr>
              <a:t>  Vram空余一个专家位置灵活卸载</a:t>
            </a:r>
          </a:p>
          <a:p>
            <a:pPr marL="0" indent="0">
              <a:buNone/>
            </a:pPr>
            <a:r>
              <a:rPr lang="en-US" altLang="zh-CN" sz="3200" dirty="0">
                <a:ea typeface="等线"/>
              </a:rPr>
              <a:t>token</a:t>
            </a:r>
            <a:r>
              <a:rPr lang="zh-CN" altLang="en-US" sz="3200" dirty="0">
                <a:ea typeface="等线"/>
              </a:rPr>
              <a:t>在哪跑？</a:t>
            </a:r>
          </a:p>
          <a:p>
            <a:pPr marL="0" indent="0">
              <a:buNone/>
            </a:pPr>
            <a:r>
              <a:rPr lang="zh-CN" altLang="en-US" sz="3200" dirty="0">
                <a:ea typeface="等线"/>
              </a:rPr>
              <a:t>           </a:t>
            </a:r>
          </a:p>
          <a:p>
            <a:pPr marL="0" indent="0">
              <a:buNone/>
            </a:pPr>
            <a:endParaRPr lang="zh-CN" altLang="en-US" dirty="0">
              <a:ea typeface="等线"/>
            </a:endParaRPr>
          </a:p>
        </p:txBody>
      </p:sp>
      <p:pic>
        <p:nvPicPr>
          <p:cNvPr id="4" name="图片 3" descr="文本, 信件&#10;&#10;AI 生成的内容可能不正确。">
            <a:extLst>
              <a:ext uri="{FF2B5EF4-FFF2-40B4-BE49-F238E27FC236}">
                <a16:creationId xmlns:a16="http://schemas.microsoft.com/office/drawing/2014/main" id="{8257AF6A-F362-0971-0754-7BAD7A2A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407" y="3956940"/>
            <a:ext cx="7607085" cy="252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423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3" descr="图示&#10;&#10;AI 生成的内容可能不正确。">
            <a:extLst>
              <a:ext uri="{FF2B5EF4-FFF2-40B4-BE49-F238E27FC236}">
                <a16:creationId xmlns:a16="http://schemas.microsoft.com/office/drawing/2014/main" id="{2A894ED8-49F0-AECF-EC2B-33A1108C9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753" y="2442333"/>
            <a:ext cx="4812092" cy="3945915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图片 1" descr="文本, 信件&#10;&#10;AI 生成的内容可能不正确。">
            <a:extLst>
              <a:ext uri="{FF2B5EF4-FFF2-40B4-BE49-F238E27FC236}">
                <a16:creationId xmlns:a16="http://schemas.microsoft.com/office/drawing/2014/main" id="{47F0231D-A3C9-CF4F-A34F-08ED2FA23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41" y="880478"/>
            <a:ext cx="4849856" cy="160766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E12D41-65E9-5909-FFDC-F9882C170425}"/>
              </a:ext>
            </a:extLst>
          </p:cNvPr>
          <p:cNvSpPr txBox="1"/>
          <p:nvPr/>
        </p:nvSpPr>
        <p:spPr>
          <a:xfrm>
            <a:off x="436552" y="238919"/>
            <a:ext cx="82649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对于专家权重在</a:t>
            </a:r>
            <a:r>
              <a:rPr lang="en-US" altLang="zh-CN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RAM</a:t>
            </a:r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上的专家， 到底在</a:t>
            </a:r>
            <a:r>
              <a:rPr lang="en-US" altLang="zh-CN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cpu</a:t>
            </a:r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算还是在</a:t>
            </a:r>
            <a:r>
              <a:rPr lang="en-US" altLang="zh-CN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gpu</a:t>
            </a:r>
            <a:r>
              <a:rPr lang="zh-CN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上算？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644A6DE-1206-3F70-26A0-4B618C8F702D}"/>
              </a:ext>
            </a:extLst>
          </p:cNvPr>
          <p:cNvSpPr txBox="1"/>
          <p:nvPr/>
        </p:nvSpPr>
        <p:spPr>
          <a:xfrm>
            <a:off x="6801956" y="3105834"/>
            <a:ext cx="5164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latency at CPU: number of token * </a:t>
            </a:r>
            <a:r>
              <a:rPr lang="en-US" altLang="zh-CN" dirty="0" err="1"/>
              <a:t>cost_at_cpu</a:t>
            </a:r>
            <a:endParaRPr lang="en-US" altLang="zh-CN" dirty="0"/>
          </a:p>
          <a:p>
            <a:r>
              <a:rPr lang="en-US" altLang="zh-CN" dirty="0"/>
              <a:t>latency at GPU: </a:t>
            </a:r>
            <a:r>
              <a:rPr lang="en-US" altLang="zh-CN" dirty="0" err="1"/>
              <a:t>cost_at_gpu</a:t>
            </a:r>
            <a:r>
              <a:rPr lang="en-US" altLang="zh-CN" dirty="0"/>
              <a:t> (constant)</a:t>
            </a:r>
            <a:endParaRPr lang="zh-CN" altLang="en-US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CABE9118-5BE7-7DF7-6F40-F6561C89D66B}"/>
              </a:ext>
            </a:extLst>
          </p:cNvPr>
          <p:cNvCxnSpPr/>
          <p:nvPr/>
        </p:nvCxnSpPr>
        <p:spPr>
          <a:xfrm>
            <a:off x="4849270" y="3167954"/>
            <a:ext cx="1905491" cy="1474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BC1E9321-68D6-8105-9B35-F1578401FA22}"/>
              </a:ext>
            </a:extLst>
          </p:cNvPr>
          <p:cNvCxnSpPr>
            <a:cxnSpLocks/>
          </p:cNvCxnSpPr>
          <p:nvPr/>
        </p:nvCxnSpPr>
        <p:spPr>
          <a:xfrm flipV="1">
            <a:off x="5043948" y="3628103"/>
            <a:ext cx="1710813" cy="194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885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7B61F8-BDA8-7937-D8E7-B0C7710E6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F80B7E-ED1B-C6D2-12D6-424C8F4D71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zh-CN" sz="4800" dirty="0"/>
              <a:t>Profiling</a:t>
            </a:r>
            <a:r>
              <a:rPr lang="zh-CN" altLang="en-US" sz="4800" dirty="0"/>
              <a:t>与改进</a:t>
            </a:r>
            <a:endParaRPr lang="en-US" altLang="zh-CN" sz="4800" dirty="0"/>
          </a:p>
          <a:p>
            <a:pPr marL="0" indent="0" algn="ctr">
              <a:buNone/>
            </a:pPr>
            <a:r>
              <a:rPr lang="zh-CN" altLang="en-US" sz="1800" dirty="0"/>
              <a:t>删除了</a:t>
            </a:r>
            <a:r>
              <a:rPr lang="en-US" altLang="zh-CN" sz="1800" dirty="0"/>
              <a:t>10</a:t>
            </a:r>
            <a:r>
              <a:rPr lang="zh-CN" altLang="en-US" sz="1800" dirty="0"/>
              <a:t>行，添加了</a:t>
            </a:r>
            <a:r>
              <a:rPr lang="en-US" altLang="zh-CN" sz="1800" dirty="0"/>
              <a:t>4</a:t>
            </a:r>
            <a:r>
              <a:rPr lang="zh-CN" altLang="en-US" sz="1800" dirty="0"/>
              <a:t>行，推理速度平均提高</a:t>
            </a:r>
            <a:r>
              <a:rPr lang="en-US" altLang="zh-CN" sz="1800" dirty="0"/>
              <a:t>~17%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59561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F8B80-25AD-D1D3-C9FB-6BCB180BE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3466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zh-CN" altLang="en-US" sz="2000" dirty="0">
                <a:ea typeface="等线"/>
              </a:rPr>
              <a:t>阅读源码， </a:t>
            </a:r>
            <a:r>
              <a:rPr lang="en-US" altLang="zh-CN" sz="2000" dirty="0" err="1">
                <a:ea typeface="等线"/>
              </a:rPr>
              <a:t>pytorch</a:t>
            </a:r>
            <a:r>
              <a:rPr lang="en-US" altLang="zh-CN" sz="2000" dirty="0">
                <a:ea typeface="等线"/>
              </a:rPr>
              <a:t> </a:t>
            </a:r>
            <a:r>
              <a:rPr lang="zh-CN" altLang="en-US" sz="2000" dirty="0">
                <a:ea typeface="等线"/>
              </a:rPr>
              <a:t>profiler 插入标记</a:t>
            </a:r>
          </a:p>
          <a:p>
            <a:pPr marL="0" indent="0">
              <a:buNone/>
            </a:pPr>
            <a:r>
              <a:rPr lang="zh-CN" altLang="en-US" sz="2000" dirty="0">
                <a:ea typeface="等线"/>
              </a:rPr>
              <a:t>图示为decode过程完整的一层， 两个专家在cpu上运行，主要的改进也在</a:t>
            </a:r>
            <a:r>
              <a:rPr lang="en-US" altLang="zh-CN" sz="2000" dirty="0">
                <a:ea typeface="等线"/>
              </a:rPr>
              <a:t>decode</a:t>
            </a:r>
            <a:r>
              <a:rPr lang="zh-CN" altLang="en-US" sz="2000" dirty="0">
                <a:ea typeface="等线"/>
              </a:rPr>
              <a:t>阶段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2AA34D-74A7-846A-4506-4BFDE72B8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2" y="1465485"/>
            <a:ext cx="10878410" cy="4231652"/>
          </a:xfrm>
          <a:prstGeom prst="rect">
            <a:avLst/>
          </a:prstGeom>
        </p:spPr>
      </p:pic>
      <p:sp>
        <p:nvSpPr>
          <p:cNvPr id="5" name="左大括号 4">
            <a:extLst>
              <a:ext uri="{FF2B5EF4-FFF2-40B4-BE49-F238E27FC236}">
                <a16:creationId xmlns:a16="http://schemas.microsoft.com/office/drawing/2014/main" id="{2EBB07BB-5779-8E96-63C5-BDD72F0CC2D3}"/>
              </a:ext>
            </a:extLst>
          </p:cNvPr>
          <p:cNvSpPr/>
          <p:nvPr/>
        </p:nvSpPr>
        <p:spPr>
          <a:xfrm rot="16200000">
            <a:off x="1618635" y="4998355"/>
            <a:ext cx="509803" cy="20814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左大括号 5">
            <a:extLst>
              <a:ext uri="{FF2B5EF4-FFF2-40B4-BE49-F238E27FC236}">
                <a16:creationId xmlns:a16="http://schemas.microsoft.com/office/drawing/2014/main" id="{A653E1A4-DD28-A702-BC0B-FF26EF050E9F}"/>
              </a:ext>
            </a:extLst>
          </p:cNvPr>
          <p:cNvSpPr/>
          <p:nvPr/>
        </p:nvSpPr>
        <p:spPr>
          <a:xfrm rot="16200000">
            <a:off x="3606841" y="5124263"/>
            <a:ext cx="473178" cy="185829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左大括号 6">
            <a:extLst>
              <a:ext uri="{FF2B5EF4-FFF2-40B4-BE49-F238E27FC236}">
                <a16:creationId xmlns:a16="http://schemas.microsoft.com/office/drawing/2014/main" id="{F0AD8021-96BF-EC72-4D77-1D189AB7DEEA}"/>
              </a:ext>
            </a:extLst>
          </p:cNvPr>
          <p:cNvSpPr/>
          <p:nvPr/>
        </p:nvSpPr>
        <p:spPr>
          <a:xfrm rot="16200000">
            <a:off x="7986990" y="2602412"/>
            <a:ext cx="509803" cy="693862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267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日程表&#10;&#10;AI 生成的内容可能不正确。">
            <a:extLst>
              <a:ext uri="{FF2B5EF4-FFF2-40B4-BE49-F238E27FC236}">
                <a16:creationId xmlns:a16="http://schemas.microsoft.com/office/drawing/2014/main" id="{CD805AF1-A589-0CDF-68BF-7C0208DD1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55" y="600866"/>
            <a:ext cx="11843289" cy="207542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3E11B30-7231-F042-B57E-6FD542B1593A}"/>
              </a:ext>
            </a:extLst>
          </p:cNvPr>
          <p:cNvSpPr txBox="1"/>
          <p:nvPr/>
        </p:nvSpPr>
        <p:spPr>
          <a:xfrm>
            <a:off x="290900" y="96967"/>
            <a:ext cx="662314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/>
              <a:t>2. </a:t>
            </a:r>
            <a:r>
              <a:rPr lang="zh-CN" altLang="en-US" dirty="0"/>
              <a:t>改进一： 避免比较总代价， 单个专家单独比较</a:t>
            </a:r>
          </a:p>
        </p:txBody>
      </p:sp>
      <p:sp>
        <p:nvSpPr>
          <p:cNvPr id="2" name="左大括号 1">
            <a:extLst>
              <a:ext uri="{FF2B5EF4-FFF2-40B4-BE49-F238E27FC236}">
                <a16:creationId xmlns:a16="http://schemas.microsoft.com/office/drawing/2014/main" id="{EFDE844A-1807-47C2-3A66-D1E990584EF9}"/>
              </a:ext>
            </a:extLst>
          </p:cNvPr>
          <p:cNvSpPr/>
          <p:nvPr/>
        </p:nvSpPr>
        <p:spPr>
          <a:xfrm rot="16200000">
            <a:off x="1143003" y="2756473"/>
            <a:ext cx="790514" cy="76986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39D8F332-86D4-872D-E6F1-12521DEC052E}"/>
              </a:ext>
            </a:extLst>
          </p:cNvPr>
          <p:cNvSpPr/>
          <p:nvPr/>
        </p:nvSpPr>
        <p:spPr>
          <a:xfrm>
            <a:off x="4489409" y="4229837"/>
            <a:ext cx="1439443" cy="4424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32340FD-AE35-7E1F-3C8D-7FF8A7BF867D}"/>
              </a:ext>
            </a:extLst>
          </p:cNvPr>
          <p:cNvSpPr txBox="1"/>
          <p:nvPr/>
        </p:nvSpPr>
        <p:spPr>
          <a:xfrm>
            <a:off x="4731283" y="3860505"/>
            <a:ext cx="766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改成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2912850-19E4-CA5E-B8A5-063BE14CE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3732" y="4273541"/>
            <a:ext cx="5094538" cy="39874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FAAA4BDD-EF60-77FF-2DA5-43E3AC324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77" y="3698894"/>
            <a:ext cx="4095104" cy="2621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965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日程表&#10;&#10;AI 生成的内容可能不正确。">
            <a:extLst>
              <a:ext uri="{FF2B5EF4-FFF2-40B4-BE49-F238E27FC236}">
                <a16:creationId xmlns:a16="http://schemas.microsoft.com/office/drawing/2014/main" id="{CD805AF1-A589-0CDF-68BF-7C0208DD1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55" y="512376"/>
            <a:ext cx="11843289" cy="207542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3E11B30-7231-F042-B57E-6FD542B1593A}"/>
              </a:ext>
            </a:extLst>
          </p:cNvPr>
          <p:cNvSpPr txBox="1"/>
          <p:nvPr/>
        </p:nvSpPr>
        <p:spPr>
          <a:xfrm>
            <a:off x="290901" y="96967"/>
            <a:ext cx="32645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/>
              <a:t>2.</a:t>
            </a:r>
            <a:r>
              <a:rPr lang="zh-CN" altLang="en-US" dirty="0"/>
              <a:t>改进二： </a:t>
            </a:r>
          </a:p>
        </p:txBody>
      </p:sp>
      <p:sp>
        <p:nvSpPr>
          <p:cNvPr id="2" name="左大括号 1">
            <a:extLst>
              <a:ext uri="{FF2B5EF4-FFF2-40B4-BE49-F238E27FC236}">
                <a16:creationId xmlns:a16="http://schemas.microsoft.com/office/drawing/2014/main" id="{00CB0F14-856D-D546-E155-AA277FE2013E}"/>
              </a:ext>
            </a:extLst>
          </p:cNvPr>
          <p:cNvSpPr/>
          <p:nvPr/>
        </p:nvSpPr>
        <p:spPr>
          <a:xfrm rot="16200000">
            <a:off x="1328364" y="2316505"/>
            <a:ext cx="2224989" cy="83476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左大括号 2">
            <a:extLst>
              <a:ext uri="{FF2B5EF4-FFF2-40B4-BE49-F238E27FC236}">
                <a16:creationId xmlns:a16="http://schemas.microsoft.com/office/drawing/2014/main" id="{8EAF3DA2-1682-5EBE-269A-DE5C5FEA553E}"/>
              </a:ext>
            </a:extLst>
          </p:cNvPr>
          <p:cNvSpPr/>
          <p:nvPr/>
        </p:nvSpPr>
        <p:spPr>
          <a:xfrm rot="16200000">
            <a:off x="6301031" y="2295366"/>
            <a:ext cx="2142400" cy="95962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67DF3BF-2B57-B0DB-CBCB-A2E27E6927F3}"/>
              </a:ext>
            </a:extLst>
          </p:cNvPr>
          <p:cNvSpPr txBox="1"/>
          <p:nvPr/>
        </p:nvSpPr>
        <p:spPr>
          <a:xfrm>
            <a:off x="2638380" y="3846380"/>
            <a:ext cx="46328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prefill</a:t>
            </a:r>
            <a:r>
              <a:rPr lang="zh-CN" altLang="en-US" dirty="0"/>
              <a:t>，</a:t>
            </a:r>
            <a:r>
              <a:rPr lang="en-US" altLang="zh-CN" dirty="0"/>
              <a:t>decode </a:t>
            </a:r>
            <a:r>
              <a:rPr lang="zh-CN" altLang="en-US" dirty="0"/>
              <a:t>阶段共用 </a:t>
            </a:r>
            <a:r>
              <a:rPr lang="en-US" altLang="zh-CN" dirty="0" err="1"/>
              <a:t>mixtral</a:t>
            </a:r>
            <a:r>
              <a:rPr lang="en-US" altLang="zh-CN" dirty="0"/>
              <a:t>-forward</a:t>
            </a:r>
            <a:r>
              <a:rPr lang="zh-CN" altLang="en-US" dirty="0"/>
              <a:t>， 在</a:t>
            </a:r>
            <a:r>
              <a:rPr lang="en-US" altLang="zh-CN" dirty="0"/>
              <a:t>decode</a:t>
            </a:r>
            <a:r>
              <a:rPr lang="zh-CN" altLang="en-US" dirty="0"/>
              <a:t>阶段， 会产生不必要的专家轮询</a:t>
            </a:r>
          </a:p>
        </p:txBody>
      </p:sp>
      <p:sp>
        <p:nvSpPr>
          <p:cNvPr id="6" name="箭头: 下 5">
            <a:extLst>
              <a:ext uri="{FF2B5EF4-FFF2-40B4-BE49-F238E27FC236}">
                <a16:creationId xmlns:a16="http://schemas.microsoft.com/office/drawing/2014/main" id="{E312A309-EF25-46EE-3063-53784FFC4F4C}"/>
              </a:ext>
            </a:extLst>
          </p:cNvPr>
          <p:cNvSpPr/>
          <p:nvPr/>
        </p:nvSpPr>
        <p:spPr>
          <a:xfrm>
            <a:off x="4371422" y="4542503"/>
            <a:ext cx="696124" cy="64633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85016C2-8820-D1B2-9A07-1DEED0C57290}"/>
              </a:ext>
            </a:extLst>
          </p:cNvPr>
          <p:cNvSpPr txBox="1"/>
          <p:nvPr/>
        </p:nvSpPr>
        <p:spPr>
          <a:xfrm>
            <a:off x="5156036" y="4725383"/>
            <a:ext cx="1834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向源代码添加</a:t>
            </a:r>
            <a:endParaRPr lang="en-US" altLang="zh-CN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739F321-7DC7-5646-B829-087A51740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559" y="5327387"/>
            <a:ext cx="6840488" cy="598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28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/>
      <p:bldP spid="6" grpId="0" animBg="1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片包含 日程表&#10;&#10;AI 生成的内容可能不正确。">
            <a:extLst>
              <a:ext uri="{FF2B5EF4-FFF2-40B4-BE49-F238E27FC236}">
                <a16:creationId xmlns:a16="http://schemas.microsoft.com/office/drawing/2014/main" id="{CD805AF1-A589-0CDF-68BF-7C0208DD1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13" y="1061016"/>
            <a:ext cx="11843289" cy="2075425"/>
          </a:xfrm>
          <a:prstGeom prst="rect">
            <a:avLst/>
          </a:prstGeom>
        </p:spPr>
      </p:pic>
      <p:pic>
        <p:nvPicPr>
          <p:cNvPr id="7" name="图片 6" descr="图片包含 图形用户界面&#10;&#10;AI 生成的内容可能不正确。">
            <a:extLst>
              <a:ext uri="{FF2B5EF4-FFF2-40B4-BE49-F238E27FC236}">
                <a16:creationId xmlns:a16="http://schemas.microsoft.com/office/drawing/2014/main" id="{4D0BFCCC-D44C-1C8F-F506-F23473B65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05" y="3690373"/>
            <a:ext cx="9498736" cy="226695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3E11B30-7231-F042-B57E-6FD542B1593A}"/>
              </a:ext>
            </a:extLst>
          </p:cNvPr>
          <p:cNvSpPr txBox="1"/>
          <p:nvPr/>
        </p:nvSpPr>
        <p:spPr>
          <a:xfrm>
            <a:off x="290901" y="96967"/>
            <a:ext cx="326455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zh-CN" dirty="0">
                <a:ea typeface="等线"/>
              </a:rPr>
              <a:t>o</a:t>
            </a:r>
            <a:r>
              <a:rPr lang="zh-CN" altLang="en-US" dirty="0">
                <a:ea typeface="等线"/>
              </a:rPr>
              <a:t>rigin vs improved</a:t>
            </a:r>
            <a:endParaRPr lang="zh-CN" altLang="en-US" dirty="0"/>
          </a:p>
        </p:txBody>
      </p:sp>
      <p:sp>
        <p:nvSpPr>
          <p:cNvPr id="5" name="箭头: 左右 4">
            <a:extLst>
              <a:ext uri="{FF2B5EF4-FFF2-40B4-BE49-F238E27FC236}">
                <a16:creationId xmlns:a16="http://schemas.microsoft.com/office/drawing/2014/main" id="{467318BC-ED40-CF81-176A-504CD7D6C129}"/>
              </a:ext>
            </a:extLst>
          </p:cNvPr>
          <p:cNvSpPr/>
          <p:nvPr/>
        </p:nvSpPr>
        <p:spPr>
          <a:xfrm>
            <a:off x="1280159" y="650899"/>
            <a:ext cx="660728" cy="372949"/>
          </a:xfrm>
          <a:prstGeom prst="left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箭头: 左右 5">
            <a:extLst>
              <a:ext uri="{FF2B5EF4-FFF2-40B4-BE49-F238E27FC236}">
                <a16:creationId xmlns:a16="http://schemas.microsoft.com/office/drawing/2014/main" id="{4BD522D1-0EDD-BAA1-DD51-EE63A14CC042}"/>
              </a:ext>
            </a:extLst>
          </p:cNvPr>
          <p:cNvSpPr/>
          <p:nvPr/>
        </p:nvSpPr>
        <p:spPr>
          <a:xfrm>
            <a:off x="1940887" y="650899"/>
            <a:ext cx="943897" cy="369332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FFC000"/>
              </a:solidFill>
              <a:highlight>
                <a:srgbClr val="FF00FF"/>
              </a:highlight>
            </a:endParaRPr>
          </a:p>
        </p:txBody>
      </p:sp>
      <p:sp>
        <p:nvSpPr>
          <p:cNvPr id="8" name="箭头: 左右 7">
            <a:extLst>
              <a:ext uri="{FF2B5EF4-FFF2-40B4-BE49-F238E27FC236}">
                <a16:creationId xmlns:a16="http://schemas.microsoft.com/office/drawing/2014/main" id="{795DAACA-9168-3244-B301-E02D25F830C9}"/>
              </a:ext>
            </a:extLst>
          </p:cNvPr>
          <p:cNvSpPr/>
          <p:nvPr/>
        </p:nvSpPr>
        <p:spPr>
          <a:xfrm>
            <a:off x="6871764" y="671292"/>
            <a:ext cx="943897" cy="369332"/>
          </a:xfrm>
          <a:prstGeom prst="left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0" name="箭头: 左右 9">
            <a:extLst>
              <a:ext uri="{FF2B5EF4-FFF2-40B4-BE49-F238E27FC236}">
                <a16:creationId xmlns:a16="http://schemas.microsoft.com/office/drawing/2014/main" id="{E509EC29-FE84-6339-20DC-5A0A3309E2B8}"/>
              </a:ext>
            </a:extLst>
          </p:cNvPr>
          <p:cNvSpPr/>
          <p:nvPr/>
        </p:nvSpPr>
        <p:spPr>
          <a:xfrm>
            <a:off x="9680840" y="4253435"/>
            <a:ext cx="2241755" cy="1173971"/>
          </a:xfrm>
          <a:prstGeom prst="leftRigh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893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 descr="图表, 条形图">
            <a:extLst>
              <a:ext uri="{FF2B5EF4-FFF2-40B4-BE49-F238E27FC236}">
                <a16:creationId xmlns:a16="http://schemas.microsoft.com/office/drawing/2014/main" id="{A3C6668F-B3A4-5A4D-4217-C48E532E1E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851237"/>
            <a:ext cx="12120379" cy="516480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EFB0B3-3ADE-E2E2-B543-24A683F50B78}"/>
              </a:ext>
            </a:extLst>
          </p:cNvPr>
          <p:cNvSpPr txBox="1"/>
          <p:nvPr/>
        </p:nvSpPr>
        <p:spPr>
          <a:xfrm>
            <a:off x="411161" y="173119"/>
            <a:ext cx="3678806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altLang="en-US" dirty="0">
                <a:ea typeface="等线"/>
              </a:rPr>
              <a:t>两个改动过后， 平均加速</a:t>
            </a:r>
            <a:r>
              <a:rPr lang="zh-CN" altLang="en-US" sz="2400" b="1" dirty="0">
                <a:solidFill>
                  <a:srgbClr val="FF0000"/>
                </a:solidFill>
                <a:ea typeface="等线"/>
              </a:rPr>
              <a:t>1.172x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36F3320-CC2A-4757-4C23-D54220BE9415}"/>
              </a:ext>
            </a:extLst>
          </p:cNvPr>
          <p:cNvSpPr txBox="1"/>
          <p:nvPr/>
        </p:nvSpPr>
        <p:spPr>
          <a:xfrm>
            <a:off x="411161" y="6154960"/>
            <a:ext cx="922077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zh-CN" sz="1400" baseline="0" dirty="0">
                <a:ea typeface="SimSun"/>
              </a:rPr>
              <a:t>实验配置：</a:t>
            </a:r>
            <a:r>
              <a:rPr lang="en-US" sz="1400" baseline="0" dirty="0">
                <a:latin typeface="SimSun"/>
              </a:rPr>
              <a:t>Tesla T4</a:t>
            </a:r>
            <a:r>
              <a:rPr lang="zh-CN" sz="1400" baseline="0" dirty="0">
                <a:ea typeface="SimSun"/>
              </a:rPr>
              <a:t>（</a:t>
            </a:r>
            <a:r>
              <a:rPr lang="en-US" sz="1400" baseline="0" dirty="0">
                <a:latin typeface="SimSun"/>
              </a:rPr>
              <a:t>16GB</a:t>
            </a:r>
            <a:r>
              <a:rPr lang="zh-CN" sz="1400" baseline="0" dirty="0">
                <a:ea typeface="SimSun"/>
              </a:rPr>
              <a:t>） </a:t>
            </a:r>
            <a:r>
              <a:rPr lang="en-US" sz="1400" baseline="0" dirty="0">
                <a:latin typeface="SimSun"/>
              </a:rPr>
              <a:t>n1 (32 </a:t>
            </a:r>
            <a:r>
              <a:rPr lang="zh-CN" sz="1400" baseline="0" dirty="0">
                <a:ea typeface="SimSun"/>
              </a:rPr>
              <a:t>个 </a:t>
            </a:r>
            <a:r>
              <a:rPr lang="en-US" sz="1400" baseline="0" dirty="0">
                <a:latin typeface="SimSun"/>
              </a:rPr>
              <a:t>vCPU, 104 GB </a:t>
            </a:r>
            <a:r>
              <a:rPr lang="zh-CN" sz="1400" baseline="0" dirty="0">
                <a:ea typeface="SimSun"/>
              </a:rPr>
              <a:t>内存</a:t>
            </a:r>
            <a:r>
              <a:rPr lang="en-US" sz="1400" baseline="0" dirty="0">
                <a:latin typeface="SimSun"/>
              </a:rPr>
              <a:t>)</a:t>
            </a:r>
            <a:endParaRPr lang="zh-CN" altLang="en-US" sz="1100" dirty="0"/>
          </a:p>
          <a:p>
            <a:pPr algn="ctr"/>
            <a:endParaRPr lang="zh-CN" altLang="en-US" dirty="0"/>
          </a:p>
        </p:txBody>
      </p:sp>
      <p:sp>
        <p:nvSpPr>
          <p:cNvPr id="2" name="左大括号 1">
            <a:extLst>
              <a:ext uri="{FF2B5EF4-FFF2-40B4-BE49-F238E27FC236}">
                <a16:creationId xmlns:a16="http://schemas.microsoft.com/office/drawing/2014/main" id="{0EAA5234-BD69-29F4-5F2F-9AA523829B31}"/>
              </a:ext>
            </a:extLst>
          </p:cNvPr>
          <p:cNvSpPr/>
          <p:nvPr/>
        </p:nvSpPr>
        <p:spPr>
          <a:xfrm rot="5400000">
            <a:off x="1818479" y="-61975"/>
            <a:ext cx="392306" cy="194088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143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6A2597-E866-7094-7F93-66C9B63F7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6931"/>
            <a:ext cx="10515600" cy="563003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现在最大的感受：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CN" sz="20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zh-CN" altLang="en-US" sz="2000" dirty="0">
                <a:latin typeface="Calibri" panose="020F0502020204030204" pitchFamily="34" charset="0"/>
                <a:cs typeface="Calibri" panose="020F0502020204030204" pitchFamily="34" charset="0"/>
              </a:rPr>
              <a:t>读论文得不够多， 自己所做的改进大多都</a:t>
            </a:r>
            <a:r>
              <a:rPr lang="zh-CN" altLang="en-US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只是工程上的缝缝补补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。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接下来的初步打算：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准备研读的论文：</a:t>
            </a:r>
            <a:endParaRPr lang="en-US" altLang="zh-CN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1.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PreScope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: Unleashing the Power of Prefetching for Resource-Constrained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MoE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 Inference                         </a:t>
            </a: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2. Fate       （2502）    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在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attention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空隙加入预取</a:t>
            </a:r>
            <a:endParaRPr lang="en-US" altLang="zh-CN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3.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Klotski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   （2502）     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CPU RAM 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都不够需要 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offload </a:t>
            </a:r>
            <a:r>
              <a:rPr lang="zh-CN" alt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到磁盘</a:t>
            </a:r>
            <a:endParaRPr lang="en-US" altLang="zh-CN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4.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HybriMoE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 （2504）</a:t>
            </a: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5.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MoE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-Infinity: Efficient </a:t>
            </a:r>
            <a:r>
              <a:rPr lang="en-US" altLang="zh-CN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MoE</a:t>
            </a: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 Inference on Personal Machines with Sparsity-Aware Expert Cache</a:t>
            </a:r>
          </a:p>
          <a:p>
            <a:pPr marL="0" indent="0">
              <a:buNone/>
            </a:pPr>
            <a:r>
              <a:rPr lang="en-US" altLang="zh-CN" sz="1800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zh-CN" altLang="en-US" sz="1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重点关注的点： 预测性路由， 专家预取， 专家</a:t>
            </a:r>
            <a:r>
              <a:rPr lang="en-US" altLang="zh-CN" sz="18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caching</a:t>
            </a:r>
            <a:endParaRPr lang="zh-CN" altLang="en-US" sz="18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3246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010C41-D5EB-75A5-8051-576C42BA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68FF00-7820-8650-B9FD-44933527A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反馈结果：</a:t>
            </a:r>
            <a:endParaRPr lang="en-US" altLang="zh-CN" dirty="0"/>
          </a:p>
          <a:p>
            <a:r>
              <a:rPr lang="zh-CN" altLang="en-US" dirty="0"/>
              <a:t>第</a:t>
            </a:r>
            <a:r>
              <a:rPr lang="en-US" altLang="zh-CN" dirty="0"/>
              <a:t>8</a:t>
            </a:r>
            <a:r>
              <a:rPr lang="zh-CN" altLang="en-US" dirty="0"/>
              <a:t>页</a:t>
            </a:r>
            <a:r>
              <a:rPr lang="en-US" altLang="zh-CN" dirty="0"/>
              <a:t>256</a:t>
            </a:r>
            <a:r>
              <a:rPr lang="zh-CN" altLang="en-US" dirty="0"/>
              <a:t>个全局配置轮序讲得不是很清楚， 代码不是替换， 是插在了另一个地方</a:t>
            </a:r>
            <a:endParaRPr lang="en-US" altLang="zh-CN" dirty="0"/>
          </a:p>
          <a:p>
            <a:r>
              <a:rPr lang="zh-CN" altLang="en-US" dirty="0"/>
              <a:t>看来还是得把文字稿备好啊。</a:t>
            </a:r>
          </a:p>
        </p:txBody>
      </p:sp>
    </p:spTree>
    <p:extLst>
      <p:ext uri="{BB962C8B-B14F-4D97-AF65-F5344CB8AC3E}">
        <p14:creationId xmlns:p14="http://schemas.microsoft.com/office/powerpoint/2010/main" val="1673176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2926</TotalTime>
  <Words>403</Words>
  <Application>Microsoft Office PowerPoint</Application>
  <PresentationFormat>宽屏</PresentationFormat>
  <Paragraphs>40</Paragraphs>
  <Slides>13</Slides>
  <Notes>0</Notes>
  <HiddenSlides>1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等线 Light</vt:lpstr>
      <vt:lpstr>SimSun</vt:lpstr>
      <vt:lpstr>Arial</vt:lpstr>
      <vt:lpstr>Calibri</vt:lpstr>
      <vt:lpstr>Office 主题​​</vt:lpstr>
      <vt:lpstr>CPU|GPU协同计算: 复现与加速</vt:lpstr>
      <vt:lpstr>PowerPoint 演示文稿</vt:lpstr>
      <vt:lpstr>PowerPoint 演示文稿</vt:lpstr>
      <vt:lpstr>Fiddler: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宇杰 杨</dc:creator>
  <cp:lastModifiedBy>宇杰 杨</cp:lastModifiedBy>
  <cp:revision>271</cp:revision>
  <dcterms:created xsi:type="dcterms:W3CDTF">2026-03-03T22:13:49Z</dcterms:created>
  <dcterms:modified xsi:type="dcterms:W3CDTF">2026-03-06T07:28:24Z</dcterms:modified>
</cp:coreProperties>
</file>